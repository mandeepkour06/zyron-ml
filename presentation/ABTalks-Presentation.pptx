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89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114800" y="1371600"/>
            <a:ext cx="4114800" cy="41148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80560" y="164592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95647" y="1755775"/>
            <a:ext cx="3200400" cy="393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A5FA"/>
                </a:solidFill>
                <a:latin typeface="Calibri" panose="020F0502020204030204"/>
              </a:defRPr>
            </a:pPr>
            <a:r>
              <a:rPr lang="en-US" sz="1600" dirty="0"/>
              <a:t>ZYRON-ML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9FAFB"/>
                </a:solidFill>
                <a:latin typeface="Calibri" panose="020F0502020204030204"/>
              </a:defRPr>
            </a:pPr>
            <a:r>
              <a:t>ABTalks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CA3AF"/>
                </a:solidFill>
                <a:latin typeface="Calibri" panose="020F0502020204030204"/>
              </a:defRPr>
            </a:pPr>
            <a:r>
              <a:t>60 Days.  60 Projects.  One Consistent Developer.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4187952"/>
            <a:ext cx="3474720" cy="25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21911" y="4114800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38447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B7280"/>
                </a:solidFill>
                <a:latin typeface="Calibri" panose="020F0502020204030204"/>
              </a:defRPr>
            </a:pPr>
            <a:r>
              <a:t>DAY 01</a:t>
            </a:r>
          </a:p>
        </p:txBody>
      </p:sp>
      <p:sp>
        <p:nvSpPr>
          <p:cNvPr id="10" name="Oval 9"/>
          <p:cNvSpPr/>
          <p:nvPr/>
        </p:nvSpPr>
        <p:spPr>
          <a:xfrm>
            <a:off x="4947360" y="411480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896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B82F6"/>
                </a:solidFill>
                <a:latin typeface="Calibri" panose="020F0502020204030204"/>
              </a:defRPr>
            </a:pPr>
            <a:r>
              <a:t>BUILD</a:t>
            </a:r>
          </a:p>
        </p:txBody>
      </p:sp>
      <p:sp>
        <p:nvSpPr>
          <p:cNvPr id="12" name="Oval 11"/>
          <p:cNvSpPr/>
          <p:nvPr/>
        </p:nvSpPr>
        <p:spPr>
          <a:xfrm>
            <a:off x="5642304" y="411480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5884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B82F6"/>
                </a:solidFill>
                <a:latin typeface="Calibri" panose="020F0502020204030204"/>
              </a:defRPr>
            </a:pPr>
            <a:r>
              <a:t>SHIP</a:t>
            </a:r>
          </a:p>
        </p:txBody>
      </p:sp>
      <p:sp>
        <p:nvSpPr>
          <p:cNvPr id="14" name="Oval 13"/>
          <p:cNvSpPr/>
          <p:nvPr/>
        </p:nvSpPr>
        <p:spPr>
          <a:xfrm>
            <a:off x="6337248" y="411480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3784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B82F6"/>
                </a:solidFill>
                <a:latin typeface="Calibri" panose="020F0502020204030204"/>
              </a:defRPr>
            </a:pPr>
            <a:r>
              <a:t>SHARE</a:t>
            </a:r>
          </a:p>
        </p:txBody>
      </p:sp>
      <p:sp>
        <p:nvSpPr>
          <p:cNvPr id="16" name="Oval 15"/>
          <p:cNvSpPr/>
          <p:nvPr/>
        </p:nvSpPr>
        <p:spPr>
          <a:xfrm>
            <a:off x="7032192" y="41148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728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0B981"/>
                </a:solidFill>
                <a:latin typeface="Calibri" panose="020F0502020204030204"/>
              </a:defRPr>
            </a:pPr>
            <a:r>
              <a:t>GROW</a:t>
            </a:r>
          </a:p>
        </p:txBody>
      </p:sp>
      <p:sp>
        <p:nvSpPr>
          <p:cNvPr id="18" name="Oval 17"/>
          <p:cNvSpPr/>
          <p:nvPr/>
        </p:nvSpPr>
        <p:spPr>
          <a:xfrm>
            <a:off x="7796631" y="4114800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3167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B7280"/>
                </a:solidFill>
                <a:latin typeface="Calibri" panose="020F0502020204030204"/>
              </a:defRPr>
            </a:pPr>
            <a:r>
              <a:t>DAY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937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 panose="020F0502020204030204"/>
              </a:defRPr>
            </a:pPr>
            <a:r>
              <a:t>A mobile-first 60-day coding challenge platform for Indian college students — built to turn daily effort into visible proof of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9FAFB"/>
                </a:solidFill>
                <a:latin typeface="Calibri" panose="020F0502020204030204"/>
              </a:defRPr>
            </a:pPr>
            <a:r>
              <a:t>Learning to code isn't the hard part.</a:t>
            </a:r>
            <a:br/>
            <a:r>
              <a:t>Staying consistent 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9487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9FAFB"/>
                </a:solidFill>
                <a:latin typeface="Calibri" panose="020F0502020204030204"/>
              </a:defRPr>
            </a:pPr>
            <a: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367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Students follow tutorials and courses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566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7280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1247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1247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247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9FAFB"/>
                </a:solidFill>
                <a:latin typeface="Calibri" panose="020F0502020204030204"/>
              </a:defRPr>
            </a:pPr>
            <a:r>
              <a:t>Repeat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4127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But rarely build independently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4407" y="3566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7280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3007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9FAFB"/>
                </a:solidFill>
                <a:latin typeface="Calibri" panose="020F0502020204030204"/>
              </a:defRPr>
            </a:pPr>
            <a:r>
              <a:t>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Projects start but don't finish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6167" y="3566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7280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4767" y="2560320"/>
            <a:ext cx="2377440" cy="25603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4767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4767" y="3474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9FAFB"/>
                </a:solidFill>
                <a:latin typeface="Calibri" panose="020F0502020204030204"/>
              </a:defRPr>
            </a:pPr>
            <a:r>
              <a:t>Lose 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647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No structure, no visibility, no 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0C1425"/>
          </a:solidFill>
          <a:ln w="1270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6235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A5FA"/>
                </a:solidFill>
                <a:latin typeface="Calibri" panose="020F0502020204030204"/>
              </a:defRPr>
            </a:pPr>
            <a:r>
              <a:rPr dirty="0"/>
              <a:t>💡  What students actually need: A simple daily structure that keeps them building, shipping, and sharing — with visible proof of their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02 — THE ABTALKS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9FAFB"/>
                </a:solidFill>
                <a:latin typeface="Calibri" panose="020F0502020204030204"/>
              </a:defRPr>
            </a:pPr>
            <a:r>
              <a:t>Turn 60 Days Into 60 Proofs of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Every day, a student receives a challenge, builds a real project, pushes it to GitHub, shares it on LinkedIn, and grows their public portfolio — one day at a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0887" y="274320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887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 panose="020F0502020204030204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Get a new project every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5447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95447" y="274320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5447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447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 panose="020F0502020204030204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Code a real project with clear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90007" y="274320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0007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0007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 panose="020F0502020204030204"/>
              </a:defRPr>
            </a:pPr>
            <a:r>
              <a:t>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167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Push to GitHub — public track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4567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84567" y="274320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4567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4567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 panose="020F0502020204030204"/>
              </a:defRPr>
            </a:pPr>
            <a: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1727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Post on LinkedIn — visible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9127" y="2743200"/>
            <a:ext cx="201168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9127" y="274320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9127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9127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Calibri" panose="020F0502020204030204"/>
              </a:defRPr>
            </a:pPr>
            <a:r>
              <a:t>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6287" y="3931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Earn XP, build streak, create portfolio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0C1425"/>
          </a:solidFill>
          <a:ln w="1270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3949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The daily loop:  Challenge → Build → GitHub commit → LinkedIn post → Streak +1 → XP earned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03 —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7095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8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9FAFB"/>
                </a:solidFill>
                <a:latin typeface="Calibri" panose="020F0502020204030204"/>
              </a:defRPr>
            </a:pPr>
            <a:r>
              <a:t>One journey. Three core experiences.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2367" y="1737360"/>
            <a:ext cx="3017520" cy="37947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49527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04975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60423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2367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0A5FA"/>
                </a:solidFill>
                <a:latin typeface="Calibri" panose="020F0502020204030204"/>
              </a:defRPr>
            </a:pPr>
            <a:r>
              <a:t>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567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Discover the challenge  →  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1367" y="1737360"/>
            <a:ext cx="3017520" cy="37947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78527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33975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89423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1367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0A5FA"/>
                </a:solidFill>
                <a:latin typeface="Calibri" panose="020F0502020204030204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5967" y="577786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Track streak, XP, progress  →  /dashboard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0367" y="1737360"/>
            <a:ext cx="2816658" cy="37947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07527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62975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8423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1167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0A5FA"/>
                </a:solidFill>
                <a:latin typeface="Calibri" panose="020F0502020204030204"/>
              </a:defRPr>
            </a:pPr>
            <a:r>
              <a:t>Challenge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0367" y="577786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Build + submit proof  →  /day/12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3727" y="6080760"/>
            <a:ext cx="1463040" cy="411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5920" y="6166485"/>
            <a:ext cx="1746250" cy="474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9FAFB"/>
                </a:solidFill>
                <a:latin typeface="Calibri" panose="020F0502020204030204"/>
              </a:defRPr>
            </a:pPr>
            <a:r>
              <a:t>1  Landing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0267" y="610298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27602" y="6080760"/>
            <a:ext cx="1463040" cy="411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17442" y="613727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9FAFB"/>
                </a:solidFill>
                <a:latin typeface="Calibri" panose="020F0502020204030204"/>
              </a:defRPr>
            </a:pPr>
            <a:r>
              <a:t>2 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4327" y="610298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95947" y="6080125"/>
            <a:ext cx="1463040" cy="411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96582" y="6121400"/>
            <a:ext cx="14630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9FAFB"/>
                </a:solidFill>
                <a:latin typeface="Calibri" panose="020F0502020204030204"/>
              </a:defRPr>
            </a:pPr>
            <a:r>
              <a:t>3  Challeng</a:t>
            </a:r>
            <a:r>
              <a:rPr lang="en-US"/>
              <a:t>e </a:t>
            </a:r>
            <a:r>
              <a:t>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4727" y="612013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367" y="6080125"/>
            <a:ext cx="1463040" cy="4114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367" y="61544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9FAFB"/>
                </a:solidFill>
                <a:latin typeface="Calibri" panose="020F0502020204030204"/>
              </a:defRPr>
            </a:pPr>
            <a:r>
              <a:t>✓  Proof Submitted</a:t>
            </a:r>
          </a:p>
        </p:txBody>
      </p:sp>
      <p:pic>
        <p:nvPicPr>
          <p:cNvPr id="34" name="Picture 33" descr="WhatsApp Image 2026-08-08 at 7.32.06 PM"/>
          <p:cNvPicPr>
            <a:picLocks noChangeAspect="1"/>
          </p:cNvPicPr>
          <p:nvPr/>
        </p:nvPicPr>
        <p:blipFill>
          <a:blip r:embed="rId2"/>
          <a:srcRect t="3861" b="3889"/>
          <a:stretch>
            <a:fillRect/>
          </a:stretch>
        </p:blipFill>
        <p:spPr>
          <a:xfrm>
            <a:off x="1113155" y="1447801"/>
            <a:ext cx="3048635" cy="4095749"/>
          </a:xfrm>
          <a:prstGeom prst="rect">
            <a:avLst/>
          </a:prstGeom>
        </p:spPr>
      </p:pic>
      <p:pic>
        <p:nvPicPr>
          <p:cNvPr id="35" name="Picture 34" descr="WhatsApp Image 2026-08-08 at 7.32.05 PM"/>
          <p:cNvPicPr>
            <a:picLocks noChangeAspect="1"/>
          </p:cNvPicPr>
          <p:nvPr/>
        </p:nvPicPr>
        <p:blipFill>
          <a:blip r:embed="rId3"/>
          <a:srcRect t="4611" b="5380"/>
          <a:stretch>
            <a:fillRect/>
          </a:stretch>
        </p:blipFill>
        <p:spPr>
          <a:xfrm>
            <a:off x="4541367" y="1447801"/>
            <a:ext cx="3142133" cy="4080510"/>
          </a:xfrm>
          <a:prstGeom prst="rect">
            <a:avLst/>
          </a:prstGeom>
        </p:spPr>
      </p:pic>
      <p:pic>
        <p:nvPicPr>
          <p:cNvPr id="36" name="Picture 35" descr="WhatsApp Image 2026-08-08 at 7.33.54 PM"/>
          <p:cNvPicPr>
            <a:picLocks noChangeAspect="1"/>
          </p:cNvPicPr>
          <p:nvPr/>
        </p:nvPicPr>
        <p:blipFill>
          <a:blip r:embed="rId4"/>
          <a:srcRect t="14123" b="2389"/>
          <a:stretch>
            <a:fillRect/>
          </a:stretch>
        </p:blipFill>
        <p:spPr>
          <a:xfrm>
            <a:off x="7867713" y="1463041"/>
            <a:ext cx="3021965" cy="4080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04 — A DAY INSIDE ABTALKS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8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9FAFB"/>
                </a:solidFill>
                <a:latin typeface="Calibri" panose="020F0502020204030204"/>
              </a:defRPr>
            </a:pPr>
            <a:r>
              <a:t>What does one day actually look like?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80410" cy="44348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9576" y="18288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DAY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9FAFB"/>
                </a:solidFill>
                <a:latin typeface="Calibri" panose="020F0502020204030204"/>
              </a:defRPr>
            </a:pPr>
            <a:r>
              <a:t>Build Expense Tracker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2679192"/>
            <a:ext cx="201168" cy="201168"/>
          </a:xfrm>
          <a:prstGeom prst="ellipse">
            <a:avLst/>
          </a:prstGeom>
          <a:solidFill>
            <a:srgbClr val="0C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66090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Understand the task — clear instructions and requirements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154680"/>
            <a:ext cx="201168" cy="201168"/>
          </a:xfrm>
          <a:prstGeom prst="ellipse">
            <a:avLst/>
          </a:prstGeom>
          <a:solidFill>
            <a:srgbClr val="0C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313639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27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Build the project — follow step-by-step guide with code samples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3630168"/>
            <a:ext cx="201168" cy="201168"/>
          </a:xfrm>
          <a:prstGeom prst="ellipse">
            <a:avLst/>
          </a:prstGeom>
          <a:solidFill>
            <a:srgbClr val="0C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361188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6027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Submit GitHub proof — link your repository as proof of work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105656"/>
            <a:ext cx="201168" cy="201168"/>
          </a:xfrm>
          <a:prstGeom prst="ellipse">
            <a:avLst/>
          </a:prstGeom>
          <a:solidFill>
            <a:srgbClr val="0C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408736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0782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Share on LinkedIn — post proof publicly for visibility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4581144"/>
            <a:ext cx="201168" cy="201168"/>
          </a:xfrm>
          <a:prstGeom prst="ellipse">
            <a:avLst/>
          </a:prstGeom>
          <a:solidFill>
            <a:srgbClr val="0C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56285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5537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Submit Live Demo — optional deployment link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5056632"/>
            <a:ext cx="201168" cy="201168"/>
          </a:xfrm>
          <a:prstGeom prst="ellipse">
            <a:avLst/>
          </a:prstGeom>
          <a:solidFill>
            <a:srgbClr val="1A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50383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BBF24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BBF24"/>
                </a:solidFill>
                <a:latin typeface="Calibri" panose="020F0502020204030204"/>
              </a:defRPr>
            </a:pPr>
            <a:r>
              <a:t>Earn +100 XP — streak continues, progress saved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577840"/>
            <a:ext cx="1645920" cy="365760"/>
          </a:xfrm>
          <a:prstGeom prst="roundRect">
            <a:avLst>
              <a:gd name="adj" fmla="val 5000"/>
            </a:avLst>
          </a:prstGeom>
          <a:solidFill>
            <a:srgbClr val="1A1705"/>
          </a:solidFill>
          <a:ln w="12700">
            <a:solidFill>
              <a:srgbClr val="3D3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5605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BBF24"/>
                </a:solidFill>
                <a:latin typeface="Calibri" panose="020F0502020204030204"/>
              </a:defRPr>
            </a:pPr>
            <a:r>
              <a:t>+100 XP earned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577840"/>
            <a:ext cx="1828800" cy="365760"/>
          </a:xfrm>
          <a:prstGeom prst="roundRect">
            <a:avLst>
              <a:gd name="adj" fmla="val 5000"/>
            </a:avLst>
          </a:prstGeom>
          <a:solidFill>
            <a:srgbClr val="1A0F05"/>
          </a:solidFill>
          <a:ln w="12700">
            <a:solidFill>
              <a:srgbClr val="3D1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605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97316"/>
                </a:solidFill>
                <a:latin typeface="Calibri" panose="020F0502020204030204"/>
              </a:defRPr>
            </a:pPr>
            <a:r>
              <a:t>🔥 12 day streak</a:t>
            </a:r>
          </a:p>
        </p:txBody>
      </p:sp>
      <p:pic>
        <p:nvPicPr>
          <p:cNvPr id="32" name="Picture 31" descr="WhatsApp Image 2026-08-08 at 7.33.54 PM"/>
          <p:cNvPicPr>
            <a:picLocks noChangeAspect="1"/>
          </p:cNvPicPr>
          <p:nvPr/>
        </p:nvPicPr>
        <p:blipFill>
          <a:blip r:embed="rId2"/>
          <a:srcRect t="13833" b="1639"/>
          <a:stretch>
            <a:fillRect/>
          </a:stretch>
        </p:blipFill>
        <p:spPr>
          <a:xfrm>
            <a:off x="691515" y="1554480"/>
            <a:ext cx="340914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05 — MOTIVATION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9FAFB"/>
                </a:solidFill>
                <a:latin typeface="Calibri" panose="020F0502020204030204"/>
              </a:defRPr>
            </a:pPr>
            <a:r>
              <a:t>Progress you can see.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A deliberate design choice: every element is built to make consistency feel rewarding — not punitive.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23774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F9FAFB"/>
                </a:solidFill>
                <a:latin typeface="Calibri" panose="020F0502020204030204"/>
              </a:defRPr>
            </a:pPr>
            <a:r>
              <a:t>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FAFB"/>
                </a:solidFill>
                <a:latin typeface="Calibri" panose="020F0502020204030204"/>
              </a:defRPr>
            </a:pPr>
            <a:r>
              <a:t>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No streak yet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23774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5447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F9FAFB"/>
                </a:solidFill>
                <a:latin typeface="Calibri" panose="020F0502020204030204"/>
              </a:defRPr>
            </a:pPr>
            <a:r>
              <a:t>🕯️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447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7316"/>
                </a:solidFill>
                <a:latin typeface="Calibri" panose="020F0502020204030204"/>
              </a:defRPr>
            </a:pPr>
            <a:r>
              <a:t>1–6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447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Small flame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0007" y="23774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90007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F9FAFB"/>
                </a:solidFill>
                <a:latin typeface="Calibri" panose="020F0502020204030204"/>
              </a:defRPr>
            </a:pPr>
            <a:r>
              <a:t>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007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7316"/>
                </a:solidFill>
                <a:latin typeface="Calibri" panose="020F0502020204030204"/>
              </a:defRPr>
            </a:pPr>
            <a:r>
              <a:t>7–13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007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Growing flame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4567" y="23774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84567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F9FAFB"/>
                </a:solidFill>
                <a:latin typeface="Calibri" panose="020F0502020204030204"/>
              </a:defRPr>
            </a:pPr>
            <a:r>
              <a:t>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7316"/>
                </a:solidFill>
                <a:latin typeface="Calibri" panose="020F0502020204030204"/>
              </a:defRPr>
            </a:pPr>
            <a:r>
              <a:t>14–29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567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Strong flame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79127" y="23774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20D05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79127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9FAFB"/>
                </a:solidFill>
                <a:latin typeface="Calibri" panose="020F0502020204030204"/>
              </a:defRPr>
            </a:pPr>
            <a:r>
              <a:t>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9127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7316"/>
                </a:solidFill>
                <a:latin typeface="Calibri" panose="020F0502020204030204"/>
              </a:defRPr>
            </a:pPr>
            <a:r>
              <a:t>30+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9127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97316"/>
                </a:solidFill>
                <a:latin typeface="Calibri" panose="020F0502020204030204"/>
              </a:defRPr>
            </a:pPr>
            <a:r>
              <a:t>Blazing streak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487" y="47548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9487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7316"/>
                </a:solidFill>
                <a:latin typeface="Calibri" panose="020F0502020204030204"/>
              </a:defRPr>
            </a:pPr>
            <a: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487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Daily Streak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1247" y="47548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81247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BBF24"/>
                </a:solidFill>
                <a:latin typeface="Calibri" panose="020F0502020204030204"/>
              </a:defRPr>
            </a:pPr>
            <a:r>
              <a:t>+100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247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XP per Challenge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7548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3007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B981"/>
                </a:solidFill>
                <a:latin typeface="Calibri" panose="020F0502020204030204"/>
              </a:defRPr>
            </a:pPr>
            <a:r>
              <a:t>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Days of Progress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4767" y="47548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84767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B82F6"/>
                </a:solidFill>
                <a:latin typeface="Calibri" panose="020F0502020204030204"/>
              </a:defRPr>
            </a:pPr>
            <a:r>
              <a:t>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4767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Portfolio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06 — AI LEARNING COACH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8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9FAFB"/>
                </a:solidFill>
                <a:latin typeface="Calibri" panose="020F0502020204030204"/>
              </a:defRPr>
            </a:pPr>
            <a:r>
              <a:t>When you get stuck,</a:t>
            </a:r>
            <a:br/>
            <a:r>
              <a:t>you don't have to stop.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rPr dirty="0"/>
              <a:t>A context-aware support layer built into the dashboard — not a replacement for the challenge, but a guide that helps students keep going.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320" y="291514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FAFB"/>
                </a:solidFill>
                <a:latin typeface="Calibri" panose="020F0502020204030204"/>
              </a:defRPr>
            </a:pPr>
            <a:r>
              <a:rPr dirty="0"/>
              <a:t>Progress-aware greetings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288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Responds to current streak and XP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591801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44549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FAFB"/>
                </a:solidFill>
                <a:latin typeface="Calibri" panose="020F0502020204030204"/>
              </a:defRPr>
            </a:pPr>
            <a:r>
              <a:t>Contextual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152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Answers questions about challenges, milestones, streaks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140441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9413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FAFB"/>
                </a:solidFill>
                <a:latin typeface="Calibri" panose="020F0502020204030204"/>
              </a:defRPr>
            </a:pPr>
            <a:r>
              <a:t>Quick-question chips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016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rPr dirty="0"/>
              <a:t>One-tap prompts for fast help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68908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542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FAFB"/>
                </a:solidFill>
                <a:latin typeface="Calibri" panose="020F0502020204030204"/>
              </a:defRPr>
            </a:pPr>
            <a:r>
              <a:t>Free-text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98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Ask anything, get a contextual response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5237721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09141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9FAFB"/>
                </a:solidFill>
                <a:latin typeface="Calibri" panose="020F0502020204030204"/>
              </a:defRPr>
            </a:pPr>
            <a:r>
              <a:t>Encouragement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4744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Supportive responses for stuck moments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0878" y="1255509"/>
            <a:ext cx="3613765" cy="4892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20840" y="173736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76288" y="173736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31736" y="173736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hatsApp Image 2026-08-08 at 7.35.15 PM"/>
          <p:cNvPicPr>
            <a:picLocks noChangeAspect="1"/>
          </p:cNvPicPr>
          <p:nvPr/>
        </p:nvPicPr>
        <p:blipFill>
          <a:blip r:embed="rId2"/>
          <a:srcRect t="4019" b="4222"/>
          <a:stretch>
            <a:fillRect/>
          </a:stretch>
        </p:blipFill>
        <p:spPr>
          <a:xfrm>
            <a:off x="6495067" y="292231"/>
            <a:ext cx="3959259" cy="6306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07 — THOUGHTFUL 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8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9FAFB"/>
                </a:solidFill>
                <a:latin typeface="Calibri" panose="020F0502020204030204"/>
              </a:defRPr>
            </a:pPr>
            <a:r>
              <a:t>Designed for real students —</a:t>
            </a:r>
            <a:br/>
            <a:r>
              <a:t>not perfect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6607" y="201168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42" y="212026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2447" y="222537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9FAFB"/>
                </a:solidFill>
                <a:latin typeface="Calibri" panose="020F0502020204030204"/>
              </a:defRPr>
            </a:pPr>
            <a:r>
              <a:rPr dirty="0"/>
              <a:t>First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0 XP, 0 streak, clean onboarding state. The student sees exactly what to do next — no confusion, no overwhelming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207" y="201168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78527" y="212026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8607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9FAFB"/>
                </a:solidFill>
                <a:latin typeface="Calibri" panose="020F0502020204030204"/>
              </a:defRPr>
            </a:pPr>
            <a:r>
              <a:rPr dirty="0"/>
              <a:t>Missed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527" y="2934652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rPr dirty="0"/>
              <a:t>Streak resets but progress continues. Supportive messaging — not punitive. The student can pick up right where they left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807" y="201168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6127" y="212026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9FAFB"/>
                </a:solidFill>
                <a:latin typeface="Calibri" panose="020F0502020204030204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6207" y="216598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9FAFB"/>
                </a:solidFill>
                <a:latin typeface="Calibri" panose="020F0502020204030204"/>
              </a:defRPr>
            </a:pPr>
            <a:r>
              <a:rPr dirty="0"/>
              <a:t>Empty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27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Fresh start with Day 1 unlocked. Clear CTA to begin. No fake data, no misleading progress bars.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84065"/>
            <a:ext cx="2743200" cy="21488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484632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24128" y="484632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79576" y="484632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0A5FA"/>
                </a:solidFill>
                <a:latin typeface="Calibri" panose="020F0502020204030204"/>
              </a:defRPr>
            </a:pPr>
            <a:r>
              <a:t>Mobile-first at 390px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303520"/>
            <a:ext cx="2103120" cy="320040"/>
          </a:xfrm>
          <a:prstGeom prst="roundRect">
            <a:avLst>
              <a:gd name="adj" fmla="val 5000"/>
            </a:avLst>
          </a:prstGeom>
          <a:solidFill>
            <a:srgbClr val="0C1F15"/>
          </a:solidFill>
          <a:ln w="12700">
            <a:solidFill>
              <a:srgbClr val="153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5330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 No horizontal scroll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303520"/>
            <a:ext cx="2103120" cy="320040"/>
          </a:xfrm>
          <a:prstGeom prst="roundRect">
            <a:avLst>
              <a:gd name="adj" fmla="val 5000"/>
            </a:avLst>
          </a:prstGeom>
          <a:solidFill>
            <a:srgbClr val="0C1F15"/>
          </a:solidFill>
          <a:ln w="12700">
            <a:solidFill>
              <a:srgbClr val="153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0" y="5330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 44px+ touch targets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303520"/>
            <a:ext cx="2103120" cy="320040"/>
          </a:xfrm>
          <a:prstGeom prst="roundRect">
            <a:avLst>
              <a:gd name="adj" fmla="val 5000"/>
            </a:avLst>
          </a:prstGeom>
          <a:solidFill>
            <a:srgbClr val="0C1F15"/>
          </a:solidFill>
          <a:ln w="12700">
            <a:solidFill>
              <a:srgbClr val="153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5330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B981"/>
                </a:solidFill>
                <a:latin typeface="Calibri" panose="020F0502020204030204"/>
              </a:defRPr>
            </a:pPr>
            <a:r>
              <a:t>✓ Clear hierarchy</a:t>
            </a:r>
          </a:p>
        </p:txBody>
      </p:sp>
      <p:pic>
        <p:nvPicPr>
          <p:cNvPr id="27" name="Picture 26" descr="WhatsApp Image 2026-08-08 at 7.37.27 PM"/>
          <p:cNvPicPr>
            <a:picLocks noChangeAspect="1"/>
          </p:cNvPicPr>
          <p:nvPr/>
        </p:nvPicPr>
        <p:blipFill>
          <a:blip r:embed="rId2"/>
          <a:srcRect t="5157" r="-1252" b="36498"/>
          <a:stretch>
            <a:fillRect/>
          </a:stretch>
        </p:blipFill>
        <p:spPr>
          <a:xfrm>
            <a:off x="731520" y="4584065"/>
            <a:ext cx="292608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B82F6"/>
                </a:solidFill>
                <a:latin typeface="Calibri" panose="020F0502020204030204"/>
              </a:defRPr>
            </a:pPr>
            <a:r>
              <a:t>08 — DESIGN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8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9FAFB"/>
                </a:solidFill>
                <a:latin typeface="Calibri" panose="020F0502020204030204"/>
              </a:defRPr>
            </a:pPr>
            <a:r>
              <a:t>Built as a real product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0A5FA"/>
                </a:solidFill>
                <a:latin typeface="Calibri" panose="020F0502020204030204"/>
              </a:defRPr>
            </a:pPr>
            <a:r>
              <a:t>PRODUCT DESIGN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35915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Premium dark UI with Deep Navy + Electric Blue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34640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61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Mobile-first responsive design optimized for 390px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10128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Streak / XP / milestone visualization 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85616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7124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GitHub + LinkedIn proof-of-work submission flow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61104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187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AI Learning Coach with contextual guidance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3659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Edge-case handling: first day, missed day, empty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0A5FA"/>
                </a:solidFill>
                <a:latin typeface="Calibri" panose="020F0502020204030204"/>
              </a:defRPr>
            </a:pPr>
            <a:r>
              <a:t>TECHNOLOGY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83680" y="245059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2350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FAFB"/>
                </a:solidFill>
                <a:latin typeface="Calibri" panose="020F0502020204030204"/>
              </a:defRPr>
            </a:pPr>
            <a:r>
              <a:t>Next.js 16.3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App Router, server components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88036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83680" y="304495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FAFB"/>
                </a:solidFill>
                <a:latin typeface="Calibri" panose="020F0502020204030204"/>
              </a:defRPr>
            </a:pPr>
            <a:r>
              <a:t>React 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944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Client components, hooks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7472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83680" y="363931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538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FAFB"/>
                </a:solidFill>
                <a:latin typeface="Calibri" panose="020F0502020204030204"/>
              </a:defRPr>
            </a:pPr>
            <a:r>
              <a:t>TypeScript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538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Strict mode, type safety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06908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83680" y="423367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FAFB"/>
                </a:solidFill>
                <a:latin typeface="Calibri" panose="020F0502020204030204"/>
              </a:defRPr>
            </a:pPr>
            <a:r>
              <a:t>Tailwind CSS v4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33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Utility-first styling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83680" y="482803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4727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FAFB"/>
                </a:solidFill>
                <a:latin typeface="Calibri" panose="020F0502020204030204"/>
              </a:defRPr>
            </a:pPr>
            <a:r>
              <a:t>Vercel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727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Deployment, edge network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25780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83680" y="5422392"/>
            <a:ext cx="91440" cy="914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5321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FAFB"/>
                </a:solidFill>
                <a:latin typeface="Calibri" panose="020F0502020204030204"/>
              </a:defRPr>
            </a:pPr>
            <a:r>
              <a:t>localStorage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321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 panose="020F0502020204030204"/>
              </a:defRPr>
            </a:pPr>
            <a:r>
              <a:t>Client-side persistence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946140"/>
            <a:ext cx="10698480" cy="619125"/>
          </a:xfrm>
          <a:prstGeom prst="roundRect">
            <a:avLst>
              <a:gd name="adj" fmla="val 5000"/>
            </a:avLst>
          </a:prstGeom>
          <a:solidFill>
            <a:srgbClr val="0C1425"/>
          </a:solidFill>
          <a:ln w="1270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6049010"/>
            <a:ext cx="10703560" cy="10306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📦  No backend required — all state persisted via browser localStorage. 60 challenge days with progressive difficulty (Days 1–20 beginner, 21–45 intermediate, 46–60 advanced).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40480" y="914400"/>
            <a:ext cx="4572000" cy="4572000"/>
          </a:xfrm>
          <a:prstGeom prst="ellipse">
            <a:avLst/>
          </a:prstGeom>
          <a:solidFill>
            <a:srgbClr val="0E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9FAFB"/>
                </a:solidFill>
                <a:latin typeface="Calibri" panose="020F0502020204030204"/>
              </a:defRPr>
            </a:pPr>
            <a:r>
              <a:t>Your next 60 days</a:t>
            </a:r>
            <a:br/>
            <a:r>
              <a:t>start 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29260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9487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9FAFB"/>
                </a:solidFill>
                <a:latin typeface="Calibri" panose="020F0502020204030204"/>
              </a:defRPr>
            </a:pPr>
            <a:r>
              <a:t>60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9260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1247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1247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9FAFB"/>
                </a:solidFill>
                <a:latin typeface="Calibri" panose="020F0502020204030204"/>
              </a:defRPr>
            </a:pPr>
            <a:r>
              <a:t>60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9260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3007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9FAFB"/>
                </a:solidFill>
                <a:latin typeface="Calibri" panose="020F0502020204030204"/>
              </a:defRPr>
            </a:pPr>
            <a:r>
              <a:t>GitHub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4767" y="29260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84767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9FAFB"/>
                </a:solidFill>
                <a:latin typeface="Calibri" panose="020F0502020204030204"/>
              </a:defRPr>
            </a:pPr>
            <a:r>
              <a:t>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4767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9FAFB"/>
                </a:solidFill>
                <a:latin typeface="Calibri" panose="020F0502020204030204"/>
              </a:defRPr>
            </a:pPr>
            <a:r>
              <a:t>LinkedIn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754880"/>
            <a:ext cx="7589520" cy="731520"/>
          </a:xfrm>
          <a:prstGeom prst="roundRect">
            <a:avLst>
              <a:gd name="adj" fmla="val 5000"/>
            </a:avLst>
          </a:prstGeom>
          <a:solidFill>
            <a:srgbClr val="0C1425"/>
          </a:solidFill>
          <a:ln w="12700">
            <a:solidFill>
              <a:srgbClr val="1A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98040" y="47548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CA3AF"/>
                </a:solidFill>
                <a:latin typeface="Calibri" panose="020F0502020204030204"/>
              </a:defRPr>
            </a:pPr>
            <a:r>
              <a:t>ABTalks turns daily coding into</a:t>
            </a:r>
            <a:br/>
            <a:r>
              <a:t>a habit → a portfolio → public proof of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71119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B82F6"/>
                </a:solidFill>
                <a:latin typeface="Calibri" panose="020F0502020204030204"/>
              </a:defRPr>
            </a:pPr>
            <a:r>
              <a:t>Build.  Ship.  Share.  Grow.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806</Words>
  <Application>Microsoft Office PowerPoint</Application>
  <PresentationFormat>Widescreen</PresentationFormat>
  <Paragraphs>168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Sehgal</dc:creator>
  <dc:description>generated using python-pptx</dc:description>
  <cp:lastModifiedBy>Lavanya Sehgal</cp:lastModifiedBy>
  <cp:revision>5</cp:revision>
  <dcterms:created xsi:type="dcterms:W3CDTF">2013-01-27T09:14:00Z</dcterms:created>
  <dcterms:modified xsi:type="dcterms:W3CDTF">2026-08-09T10:19:31Z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FD756419CF5C46ECA065F3FA545D60DD_12</vt:lpwstr>
  </property>
</Properties>
</file>